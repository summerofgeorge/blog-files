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3935"/>
        </a:solidFill>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CF3338"/>
          </a:solidFill>
          <a:ln w="12700">
            <a:solidFill>
              <a:srgbClr val="CF3338"/>
            </a:solidFill>
            <a:prstDash val="solid"/>
          </a:ln>
        </p:spPr>
      </p:sp>
      <p:sp>
        <p:nvSpPr>
          <p:cNvPr id="3" name="Shape 1"/>
          <p:cNvSpPr/>
          <p:nvPr/>
        </p:nvSpPr>
        <p:spPr>
          <a:xfrm>
            <a:off x="6217920" y="0"/>
            <a:ext cx="2926080" cy="5143500"/>
          </a:xfrm>
          <a:prstGeom prst="rect">
            <a:avLst/>
          </a:prstGeom>
          <a:solidFill>
            <a:srgbClr val="C00000"/>
          </a:solidFill>
          <a:ln w="12700">
            <a:solidFill>
              <a:srgbClr val="C00000"/>
            </a:solidFill>
            <a:prstDash val="solid"/>
          </a:ln>
        </p:spPr>
      </p:sp>
      <p:sp>
        <p:nvSpPr>
          <p:cNvPr id="4" name="Text 2"/>
          <p:cNvSpPr/>
          <p:nvPr/>
        </p:nvSpPr>
        <p:spPr>
          <a:xfrm>
            <a:off x="6263640" y="548640"/>
            <a:ext cx="2743200" cy="2286000"/>
          </a:xfrm>
          <a:prstGeom prst="rect">
            <a:avLst/>
          </a:prstGeom>
          <a:noFill/>
          <a:ln/>
        </p:spPr>
        <p:txBody>
          <a:bodyPr wrap="square" rtlCol="0" anchor="ctr"/>
          <a:lstStyle/>
          <a:p>
            <a:pPr algn="ctr" indent="0" marL="0">
              <a:buNone/>
            </a:pPr>
            <a:r>
              <a:rPr lang="en-US" sz="13000" b="1" dirty="0">
                <a:solidFill>
                  <a:srgbClr val="FFFFFF">
                    <a:alpha val="85000"/>
                  </a:srgbClr>
                </a:solidFill>
                <a:latin typeface="Arial Black" pitchFamily="34" charset="0"/>
                <a:ea typeface="Arial Black" pitchFamily="34" charset="-122"/>
                <a:cs typeface="Arial Black" pitchFamily="34" charset="-120"/>
              </a:rPr>
              <a:t>10</a:t>
            </a:r>
            <a:endParaRPr lang="en-US" sz="13000" dirty="0"/>
          </a:p>
        </p:txBody>
      </p:sp>
      <p:sp>
        <p:nvSpPr>
          <p:cNvPr id="5" name="Text 3"/>
          <p:cNvSpPr/>
          <p:nvPr/>
        </p:nvSpPr>
        <p:spPr>
          <a:xfrm>
            <a:off x="6263640" y="2834640"/>
            <a:ext cx="2743200" cy="411480"/>
          </a:xfrm>
          <a:prstGeom prst="rect">
            <a:avLst/>
          </a:prstGeom>
          <a:noFill/>
          <a:ln/>
        </p:spPr>
        <p:txBody>
          <a:bodyPr wrap="square" rtlCol="0" anchor="ctr"/>
          <a:lstStyle/>
          <a:p>
            <a:pPr algn="ctr" indent="0" marL="0">
              <a:buNone/>
            </a:pPr>
            <a:r>
              <a:rPr lang="en-US" sz="1500" b="1" spc="400" kern="0" dirty="0">
                <a:solidFill>
                  <a:srgbClr val="FFFFFF"/>
                </a:solidFill>
                <a:latin typeface="Arial Black" pitchFamily="34" charset="0"/>
                <a:ea typeface="Arial Black" pitchFamily="34" charset="-122"/>
                <a:cs typeface="Arial Black" pitchFamily="34" charset="-120"/>
              </a:rPr>
              <a:t>WAYS TO</a:t>
            </a:r>
            <a:endParaRPr lang="en-US" sz="1500" dirty="0"/>
          </a:p>
        </p:txBody>
      </p:sp>
      <p:sp>
        <p:nvSpPr>
          <p:cNvPr id="6" name="Text 4"/>
          <p:cNvSpPr/>
          <p:nvPr/>
        </p:nvSpPr>
        <p:spPr>
          <a:xfrm>
            <a:off x="6263640" y="3200400"/>
            <a:ext cx="2743200" cy="365760"/>
          </a:xfrm>
          <a:prstGeom prst="rect">
            <a:avLst/>
          </a:prstGeom>
          <a:noFill/>
          <a:ln/>
        </p:spPr>
        <p:txBody>
          <a:bodyPr wrap="square" rtlCol="0" anchor="ctr"/>
          <a:lstStyle/>
          <a:p>
            <a:pPr algn="ctr" indent="0" marL="0">
              <a:buNone/>
            </a:pPr>
            <a:r>
              <a:rPr lang="en-US" sz="1300" spc="200" kern="0" dirty="0">
                <a:solidFill>
                  <a:srgbClr val="FFCCCC"/>
                </a:solidFill>
                <a:latin typeface="Arial" pitchFamily="34" charset="0"/>
                <a:ea typeface="Arial" pitchFamily="34" charset="-122"/>
                <a:cs typeface="Arial" pitchFamily="34" charset="-120"/>
              </a:rPr>
              <a:t>DESTROY YOUR</a:t>
            </a:r>
            <a:endParaRPr lang="en-US" sz="1300" dirty="0"/>
          </a:p>
        </p:txBody>
      </p:sp>
      <p:sp>
        <p:nvSpPr>
          <p:cNvPr id="7" name="Text 5"/>
          <p:cNvSpPr/>
          <p:nvPr/>
        </p:nvSpPr>
        <p:spPr>
          <a:xfrm>
            <a:off x="6263640" y="3520440"/>
            <a:ext cx="2743200" cy="365760"/>
          </a:xfrm>
          <a:prstGeom prst="rect">
            <a:avLst/>
          </a:prstGeom>
          <a:noFill/>
          <a:ln/>
        </p:spPr>
        <p:txBody>
          <a:bodyPr wrap="square" rtlCol="0" anchor="ctr"/>
          <a:lstStyle/>
          <a:p>
            <a:pPr algn="ctr" indent="0" marL="0">
              <a:buNone/>
            </a:pPr>
            <a:r>
              <a:rPr lang="en-US" sz="1300" spc="200" kern="0" dirty="0">
                <a:solidFill>
                  <a:srgbClr val="FFCCCC"/>
                </a:solidFill>
                <a:latin typeface="Arial" pitchFamily="34" charset="0"/>
                <a:ea typeface="Arial" pitchFamily="34" charset="-122"/>
                <a:cs typeface="Arial" pitchFamily="34" charset="-120"/>
              </a:rPr>
              <a:t>DATA ANALYTICS</a:t>
            </a:r>
            <a:endParaRPr lang="en-US" sz="1300" dirty="0"/>
          </a:p>
        </p:txBody>
      </p:sp>
      <p:sp>
        <p:nvSpPr>
          <p:cNvPr id="8" name="Text 6"/>
          <p:cNvSpPr/>
          <p:nvPr/>
        </p:nvSpPr>
        <p:spPr>
          <a:xfrm>
            <a:off x="6263640" y="3840480"/>
            <a:ext cx="2743200" cy="365760"/>
          </a:xfrm>
          <a:prstGeom prst="rect">
            <a:avLst/>
          </a:prstGeom>
          <a:noFill/>
          <a:ln/>
        </p:spPr>
        <p:txBody>
          <a:bodyPr wrap="square" rtlCol="0" anchor="ctr"/>
          <a:lstStyle/>
          <a:p>
            <a:pPr algn="ctr" indent="0" marL="0">
              <a:buNone/>
            </a:pPr>
            <a:r>
              <a:rPr lang="en-US" sz="1300" spc="200" kern="0" dirty="0">
                <a:solidFill>
                  <a:srgbClr val="FFCCCC"/>
                </a:solidFill>
                <a:latin typeface="Arial" pitchFamily="34" charset="0"/>
                <a:ea typeface="Arial" pitchFamily="34" charset="-122"/>
                <a:cs typeface="Arial" pitchFamily="34" charset="-120"/>
              </a:rPr>
              <a:t>SOLOPRENEURSHIP</a:t>
            </a:r>
            <a:endParaRPr lang="en-US" sz="1300" dirty="0"/>
          </a:p>
        </p:txBody>
      </p:sp>
      <p:sp>
        <p:nvSpPr>
          <p:cNvPr id="9" name="Text 7"/>
          <p:cNvSpPr/>
          <p:nvPr/>
        </p:nvSpPr>
        <p:spPr>
          <a:xfrm>
            <a:off x="457200" y="1280160"/>
            <a:ext cx="5394960" cy="1280160"/>
          </a:xfrm>
          <a:prstGeom prst="rect">
            <a:avLst/>
          </a:prstGeom>
          <a:noFill/>
          <a:ln/>
        </p:spPr>
        <p:txBody>
          <a:bodyPr wrap="square" rtlCol="0" anchor="ctr"/>
          <a:lstStyle/>
          <a:p>
            <a:pPr algn="l" indent="0" marL="0">
              <a:buNone/>
            </a:pPr>
            <a:r>
              <a:rPr lang="en-US" sz="2000" i="1" dirty="0">
                <a:solidFill>
                  <a:srgbClr val="FFFFFF"/>
                </a:solidFill>
                <a:latin typeface="Arial" pitchFamily="34" charset="0"/>
                <a:ea typeface="Arial" pitchFamily="34" charset="-122"/>
                <a:cs typeface="Arial" pitchFamily="34" charset="-120"/>
              </a:rPr>
              <a:t>Hard-earned lessons for anyone thinking about going independent in data.</a:t>
            </a:r>
            <a:endParaRPr lang="en-US" sz="2000" dirty="0"/>
          </a:p>
        </p:txBody>
      </p:sp>
      <p:sp>
        <p:nvSpPr>
          <p:cNvPr id="10" name="Shape 8"/>
          <p:cNvSpPr/>
          <p:nvPr/>
        </p:nvSpPr>
        <p:spPr>
          <a:xfrm>
            <a:off x="457200" y="2743200"/>
            <a:ext cx="1828800" cy="36576"/>
          </a:xfrm>
          <a:prstGeom prst="rect">
            <a:avLst/>
          </a:prstGeom>
          <a:solidFill>
            <a:srgbClr val="CF3338"/>
          </a:solidFill>
          <a:ln w="12700">
            <a:solidFill>
              <a:srgbClr val="CF3338"/>
            </a:solidFill>
            <a:prstDash val="solid"/>
          </a:ln>
        </p:spPr>
      </p:sp>
      <p:sp>
        <p:nvSpPr>
          <p:cNvPr id="11" name="Text 9"/>
          <p:cNvSpPr/>
          <p:nvPr/>
        </p:nvSpPr>
        <p:spPr>
          <a:xfrm>
            <a:off x="457200" y="2926080"/>
            <a:ext cx="5029200" cy="365760"/>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George Mount</a:t>
            </a:r>
            <a:endParaRPr lang="en-US" sz="1300" dirty="0"/>
          </a:p>
        </p:txBody>
      </p:sp>
      <p:sp>
        <p:nvSpPr>
          <p:cNvPr id="12" name="Text 10"/>
          <p:cNvSpPr/>
          <p:nvPr/>
        </p:nvSpPr>
        <p:spPr>
          <a:xfrm>
            <a:off x="457200" y="3246120"/>
            <a:ext cx="5029200" cy="320040"/>
          </a:xfrm>
          <a:prstGeom prst="rect">
            <a:avLst/>
          </a:prstGeom>
          <a:noFill/>
          <a:ln/>
        </p:spPr>
        <p:txBody>
          <a:bodyPr wrap="square" rtlCol="0" anchor="ctr"/>
          <a:lstStyle/>
          <a:p>
            <a:pPr indent="0" marL="0">
              <a:buNone/>
            </a:pPr>
            <a:r>
              <a:rPr lang="en-US" sz="1100" dirty="0">
                <a:solidFill>
                  <a:srgbClr val="AAAAAA"/>
                </a:solidFill>
                <a:latin typeface="Arial" pitchFamily="34" charset="0"/>
                <a:ea typeface="Arial" pitchFamily="34" charset="-122"/>
                <a:cs typeface="Arial" pitchFamily="34" charset="-120"/>
              </a:rPr>
              <a:t>Microsoft MVP  |  Stringfest Analytics</a:t>
            </a:r>
            <a:endParaRPr lang="en-US" sz="1100" dirty="0"/>
          </a:p>
        </p:txBody>
      </p:sp>
      <p:sp>
        <p:nvSpPr>
          <p:cNvPr id="13" name="Shape 11"/>
          <p:cNvSpPr/>
          <p:nvPr/>
        </p:nvSpPr>
        <p:spPr>
          <a:xfrm>
            <a:off x="0" y="4800600"/>
            <a:ext cx="9144000" cy="342900"/>
          </a:xfrm>
          <a:prstGeom prst="rect">
            <a:avLst/>
          </a:prstGeom>
          <a:solidFill>
            <a:srgbClr val="3D3935"/>
          </a:solidFill>
          <a:ln w="12700">
            <a:solidFill>
              <a:srgbClr val="3D3935"/>
            </a:solidFill>
            <a:prstDash val="solid"/>
          </a:ln>
        </p:spPr>
      </p:sp>
      <p:sp>
        <p:nvSpPr>
          <p:cNvPr id="14" name="Text 12"/>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01</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01</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Taking Excessively Small Contracts</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Onboarding a client carries significant overhead: invoices, tax forms, discovery calls, account setup. When you replicate that for a project worth $1,000, the economics rarely work. Set a minimum contract threshold and hold to it.</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02</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02</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Not Vetting Clients Enough</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Some clients will consume hours of your time before revealing they have almost no budget. Ask about budget early. If they are evasive, treat that as a signal. Your time is finite and so is your patience.</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03</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03</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Going Above and Beyond on Scope</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In employment, going beyond the job description is expected. When self-employed, anything outside the contract scope deserves careful consideration. Think about how an attorney bills for their time. Then do that.</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04</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04</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Depending on One Client Alone</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A single lucrative client feels like security. It isn't. If that contract ends, so does your income. Diversifying your client base takes work, but it's what separates a real business from a dependent relationship.</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05</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05</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Chasing Shiny New Technology</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It is tempting to chase whatever is trending on LinkedIn. But real businesses lag behind the cutting edge. Building a practice around established tools that clients actually use is often the more sustainable path.</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06</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06</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Ignoring Your Authority Building</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When a good contract is in front of you, content marketing can feel like an unnecessary distraction. It isn't. Letting your blog, newsletter, or social presence go dark is how you end up in a feast-or-famine cycle.</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07</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07</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Underestimating Project Scope</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As an employee, a delayed project still produces a paycheck. As a solopreneur, missed milestones mean missed payments. Keep detailed timesheets. Build a realistic sense of how long things actually take.</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08</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08</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Assuming You Have to Go Viral</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Viral reach is probabilistic and largely outside your control. A smaller, engaged audience that trusts your expertise is worth more than a large audience that clicked through once and kept scrolling.</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09</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09</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Thinking Success Has to Look a Certain Way</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You may have entered this with a specific vision of what success looks like. The market may have other ideas. Staying rigid about how the work should look is a good way to miss work that is actually available.</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F3338"/>
          </a:solidFill>
          <a:ln w="12700">
            <a:solidFill>
              <a:srgbClr val="CF3338"/>
            </a:solidFill>
            <a:prstDash val="solid"/>
          </a:ln>
        </p:spPr>
      </p:sp>
      <p:sp>
        <p:nvSpPr>
          <p:cNvPr id="3" name="Text 1"/>
          <p:cNvSpPr/>
          <p:nvPr/>
        </p:nvSpPr>
        <p:spPr>
          <a:xfrm>
            <a:off x="5669280" y="1645920"/>
            <a:ext cx="4114800" cy="3200400"/>
          </a:xfrm>
          <a:prstGeom prst="rect">
            <a:avLst/>
          </a:prstGeom>
          <a:noFill/>
          <a:ln/>
        </p:spPr>
        <p:txBody>
          <a:bodyPr wrap="square" rtlCol="0" anchor="b"/>
          <a:lstStyle/>
          <a:p>
            <a:pPr algn="r" indent="0" marL="0">
              <a:buNone/>
            </a:pPr>
            <a:r>
              <a:rPr lang="en-US" sz="21000" b="1" dirty="0">
                <a:solidFill>
                  <a:srgbClr val="CF3338">
                    <a:alpha val="9000"/>
                  </a:srgbClr>
                </a:solidFill>
                <a:latin typeface="Arial Black" pitchFamily="34" charset="0"/>
                <a:ea typeface="Arial Black" pitchFamily="34" charset="-122"/>
                <a:cs typeface="Arial Black" pitchFamily="34" charset="-120"/>
              </a:rPr>
              <a:t>10</a:t>
            </a:r>
            <a:endParaRPr lang="en-US" sz="21000" dirty="0"/>
          </a:p>
        </p:txBody>
      </p:sp>
      <p:sp>
        <p:nvSpPr>
          <p:cNvPr id="4" name="Shape 2"/>
          <p:cNvSpPr/>
          <p:nvPr/>
        </p:nvSpPr>
        <p:spPr>
          <a:xfrm>
            <a:off x="457200" y="274320"/>
            <a:ext cx="731520" cy="320040"/>
          </a:xfrm>
          <a:prstGeom prst="rect">
            <a:avLst/>
          </a:prstGeom>
          <a:solidFill>
            <a:srgbClr val="CF3338"/>
          </a:solidFill>
          <a:ln w="12700">
            <a:solidFill>
              <a:srgbClr val="CF3338"/>
            </a:solidFill>
            <a:prstDash val="solid"/>
          </a:ln>
        </p:spPr>
      </p:sp>
      <p:sp>
        <p:nvSpPr>
          <p:cNvPr id="5" name="Text 3"/>
          <p:cNvSpPr/>
          <p:nvPr/>
        </p:nvSpPr>
        <p:spPr>
          <a:xfrm>
            <a:off x="457200" y="274320"/>
            <a:ext cx="731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10</a:t>
            </a:r>
            <a:endParaRPr lang="en-US" sz="1200" dirty="0"/>
          </a:p>
        </p:txBody>
      </p:sp>
      <p:sp>
        <p:nvSpPr>
          <p:cNvPr id="6" name="Text 4"/>
          <p:cNvSpPr/>
          <p:nvPr/>
        </p:nvSpPr>
        <p:spPr>
          <a:xfrm>
            <a:off x="457200" y="731520"/>
            <a:ext cx="8321040" cy="1051560"/>
          </a:xfrm>
          <a:prstGeom prst="rect">
            <a:avLst/>
          </a:prstGeom>
          <a:noFill/>
          <a:ln/>
        </p:spPr>
        <p:txBody>
          <a:bodyPr wrap="square" rtlCol="0" anchor="t"/>
          <a:lstStyle/>
          <a:p>
            <a:pPr algn="l" indent="0" marL="0">
              <a:buNone/>
            </a:pPr>
            <a:r>
              <a:rPr lang="en-US" sz="2900" b="1" dirty="0">
                <a:solidFill>
                  <a:srgbClr val="CF3338"/>
                </a:solidFill>
                <a:latin typeface="Arial Black" pitchFamily="34" charset="0"/>
                <a:ea typeface="Arial Black" pitchFamily="34" charset="-122"/>
                <a:cs typeface="Arial Black" pitchFamily="34" charset="-120"/>
              </a:rPr>
              <a:t>Thinking the Next Achievement Solves Everything</a:t>
            </a:r>
            <a:endParaRPr lang="en-US" sz="2900" dirty="0"/>
          </a:p>
        </p:txBody>
      </p:sp>
      <p:sp>
        <p:nvSpPr>
          <p:cNvPr id="7" name="Shape 5"/>
          <p:cNvSpPr/>
          <p:nvPr/>
        </p:nvSpPr>
        <p:spPr>
          <a:xfrm>
            <a:off x="457200" y="1874520"/>
            <a:ext cx="2011680" cy="45720"/>
          </a:xfrm>
          <a:prstGeom prst="rect">
            <a:avLst/>
          </a:prstGeom>
          <a:solidFill>
            <a:srgbClr val="3D3935"/>
          </a:solidFill>
          <a:ln w="12700">
            <a:solidFill>
              <a:srgbClr val="3D3935"/>
            </a:solidFill>
            <a:prstDash val="solid"/>
          </a:ln>
        </p:spPr>
      </p:sp>
      <p:sp>
        <p:nvSpPr>
          <p:cNvPr id="8" name="Text 6"/>
          <p:cNvSpPr/>
          <p:nvPr/>
        </p:nvSpPr>
        <p:spPr>
          <a:xfrm>
            <a:off x="457200" y="2057400"/>
            <a:ext cx="8321040" cy="2377440"/>
          </a:xfrm>
          <a:prstGeom prst="rect">
            <a:avLst/>
          </a:prstGeom>
          <a:noFill/>
          <a:ln/>
        </p:spPr>
        <p:txBody>
          <a:bodyPr wrap="square" rtlCol="0" anchor="t"/>
          <a:lstStyle/>
          <a:p>
            <a:pPr algn="l" indent="0" marL="0">
              <a:buNone/>
            </a:pPr>
            <a:r>
              <a:rPr lang="en-US" sz="1550" dirty="0">
                <a:solidFill>
                  <a:srgbClr val="707070"/>
                </a:solidFill>
                <a:latin typeface="Arial" pitchFamily="34" charset="0"/>
                <a:ea typeface="Arial" pitchFamily="34" charset="-122"/>
                <a:cs typeface="Arial" pitchFamily="34" charset="-120"/>
              </a:rPr>
              <a:t>"Once I publish the book, everything will change." It won't. Fixating on a single milestone as the answer to all problems is a setup for sustained dissatisfaction. The work is the work, and it continues either way.</a:t>
            </a:r>
            <a:endParaRPr lang="en-US" sz="1550" dirty="0"/>
          </a:p>
        </p:txBody>
      </p:sp>
      <p:sp>
        <p:nvSpPr>
          <p:cNvPr id="9" name="Shape 7"/>
          <p:cNvSpPr/>
          <p:nvPr/>
        </p:nvSpPr>
        <p:spPr>
          <a:xfrm>
            <a:off x="0" y="4800600"/>
            <a:ext cx="9144000" cy="342900"/>
          </a:xfrm>
          <a:prstGeom prst="rect">
            <a:avLst/>
          </a:prstGeom>
          <a:solidFill>
            <a:srgbClr val="3D3935"/>
          </a:solidFill>
          <a:ln w="12700">
            <a:solidFill>
              <a:srgbClr val="3D3935"/>
            </a:solidFill>
            <a:prstDash val="solid"/>
          </a:ln>
        </p:spPr>
      </p:sp>
      <p:sp>
        <p:nvSpPr>
          <p:cNvPr id="10" name="Text 8"/>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3935"/>
        </a:solidFill>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CF3338"/>
          </a:solidFill>
          <a:ln w="12700">
            <a:solidFill>
              <a:srgbClr val="CF3338"/>
            </a:solidFill>
            <a:prstDash val="solid"/>
          </a:ln>
        </p:spPr>
      </p:sp>
      <p:sp>
        <p:nvSpPr>
          <p:cNvPr id="3" name="Shape 1"/>
          <p:cNvSpPr/>
          <p:nvPr/>
        </p:nvSpPr>
        <p:spPr>
          <a:xfrm>
            <a:off x="0" y="0"/>
            <a:ext cx="320040" cy="5143500"/>
          </a:xfrm>
          <a:prstGeom prst="rect">
            <a:avLst/>
          </a:prstGeom>
          <a:solidFill>
            <a:srgbClr val="CF3338"/>
          </a:solidFill>
          <a:ln w="12700">
            <a:solidFill>
              <a:srgbClr val="CF3338"/>
            </a:solidFill>
            <a:prstDash val="solid"/>
          </a:ln>
        </p:spPr>
      </p:sp>
      <p:sp>
        <p:nvSpPr>
          <p:cNvPr id="4" name="Text 2"/>
          <p:cNvSpPr/>
          <p:nvPr/>
        </p:nvSpPr>
        <p:spPr>
          <a:xfrm>
            <a:off x="640080" y="502920"/>
            <a:ext cx="8046720" cy="822960"/>
          </a:xfrm>
          <a:prstGeom prst="rect">
            <a:avLst/>
          </a:prstGeom>
          <a:noFill/>
          <a:ln/>
        </p:spPr>
        <p:txBody>
          <a:bodyPr wrap="square" rtlCol="0" anchor="ctr"/>
          <a:lstStyle/>
          <a:p>
            <a:pPr algn="l" indent="0" marL="0">
              <a:buNone/>
            </a:pPr>
            <a:r>
              <a:rPr lang="en-US" sz="2600" b="1" dirty="0">
                <a:solidFill>
                  <a:srgbClr val="FFFFFF"/>
                </a:solidFill>
                <a:latin typeface="Arial Black" pitchFamily="34" charset="0"/>
                <a:ea typeface="Arial Black" pitchFamily="34" charset="-122"/>
                <a:cs typeface="Arial Black" pitchFamily="34" charset="-120"/>
              </a:rPr>
              <a:t>Thinking about going independent in data?</a:t>
            </a:r>
            <a:endParaRPr lang="en-US" sz="2600" dirty="0"/>
          </a:p>
        </p:txBody>
      </p:sp>
      <p:sp>
        <p:nvSpPr>
          <p:cNvPr id="5" name="Text 3"/>
          <p:cNvSpPr/>
          <p:nvPr/>
        </p:nvSpPr>
        <p:spPr>
          <a:xfrm>
            <a:off x="640080" y="1463040"/>
            <a:ext cx="7863840" cy="1417320"/>
          </a:xfrm>
          <a:prstGeom prst="rect">
            <a:avLst/>
          </a:prstGeom>
          <a:noFill/>
          <a:ln/>
        </p:spPr>
        <p:txBody>
          <a:bodyPr wrap="square" rtlCol="0" anchor="ctr"/>
          <a:lstStyle/>
          <a:p>
            <a:pPr algn="l" indent="0" marL="0">
              <a:buNone/>
            </a:pPr>
            <a:r>
              <a:rPr lang="en-US" sz="1450" dirty="0">
                <a:solidFill>
                  <a:srgbClr val="CCCCCC"/>
                </a:solidFill>
                <a:latin typeface="Arial" pitchFamily="34" charset="0"/>
                <a:ea typeface="Arial" pitchFamily="34" charset="-122"/>
                <a:cs typeface="Arial" pitchFamily="34" charset="-120"/>
              </a:rPr>
              <a:t>I offer a one-off, 75-minute diagnostic session for people at exactly this crossroads. We map your current skills and constraints, identify what is actually holding you back, and clarify two or three realistic next paths. You get a written summary afterward with honest recommendations.</a:t>
            </a:r>
            <a:endParaRPr lang="en-US" sz="1450" dirty="0"/>
          </a:p>
        </p:txBody>
      </p:sp>
      <p:sp>
        <p:nvSpPr>
          <p:cNvPr id="6" name="Shape 4"/>
          <p:cNvSpPr/>
          <p:nvPr/>
        </p:nvSpPr>
        <p:spPr>
          <a:xfrm>
            <a:off x="640080" y="3200400"/>
            <a:ext cx="7315200" cy="475488"/>
          </a:xfrm>
          <a:prstGeom prst="rect">
            <a:avLst/>
          </a:prstGeom>
          <a:solidFill>
            <a:srgbClr val="2A2520"/>
          </a:solidFill>
          <a:ln w="12700">
            <a:solidFill>
              <a:srgbClr val="555555"/>
            </a:solidFill>
            <a:prstDash val="solid"/>
          </a:ln>
        </p:spPr>
      </p:sp>
      <p:sp>
        <p:nvSpPr>
          <p:cNvPr id="7" name="Text 5"/>
          <p:cNvSpPr/>
          <p:nvPr/>
        </p:nvSpPr>
        <p:spPr>
          <a:xfrm>
            <a:off x="640080" y="3200400"/>
            <a:ext cx="7315200" cy="475488"/>
          </a:xfrm>
          <a:prstGeom prst="rect">
            <a:avLst/>
          </a:prstGeom>
          <a:noFill/>
          <a:ln/>
        </p:spPr>
        <p:txBody>
          <a:bodyPr wrap="square" lIns="0" tIns="0" rIns="0" bIns="0" rtlCol="0" anchor="ctr"/>
          <a:lstStyle/>
          <a:p>
            <a:pPr algn="ctr" indent="0" marL="0">
              <a:buNone/>
            </a:pPr>
            <a:r>
              <a:rPr lang="en-US" sz="1300" dirty="0">
                <a:solidFill>
                  <a:srgbClr val="CF3338"/>
                </a:solidFill>
                <a:latin typeface="Arial" pitchFamily="34" charset="0"/>
                <a:ea typeface="Arial" pitchFamily="34" charset="-122"/>
                <a:cs typeface="Arial" pitchFamily="34" charset="-120"/>
              </a:rPr>
              <a:t>stringfestanalytics.com/analytics-career-coaching</a:t>
            </a:r>
            <a:endParaRPr lang="en-US" sz="1300" dirty="0"/>
          </a:p>
        </p:txBody>
      </p:sp>
      <p:sp>
        <p:nvSpPr>
          <p:cNvPr id="8" name="Shape 6"/>
          <p:cNvSpPr/>
          <p:nvPr/>
        </p:nvSpPr>
        <p:spPr>
          <a:xfrm>
            <a:off x="0" y="4800600"/>
            <a:ext cx="9144000" cy="342900"/>
          </a:xfrm>
          <a:prstGeom prst="rect">
            <a:avLst/>
          </a:prstGeom>
          <a:solidFill>
            <a:srgbClr val="3D3935"/>
          </a:solidFill>
          <a:ln w="12700">
            <a:solidFill>
              <a:srgbClr val="3D3935"/>
            </a:solidFill>
            <a:prstDash val="solid"/>
          </a:ln>
        </p:spPr>
      </p:sp>
      <p:sp>
        <p:nvSpPr>
          <p:cNvPr id="9" name="Text 7"/>
          <p:cNvSpPr/>
          <p:nvPr/>
        </p:nvSpPr>
        <p:spPr>
          <a:xfrm>
            <a:off x="228600" y="4809744"/>
            <a:ext cx="8686800" cy="310896"/>
          </a:xfrm>
          <a:prstGeom prst="rect">
            <a:avLst/>
          </a:prstGeom>
          <a:noFill/>
          <a:ln/>
        </p:spPr>
        <p:txBody>
          <a:bodyPr wrap="square" lIns="0" tIns="0" rIns="0" bIns="0" rtlCol="0" anchor="ctr"/>
          <a:lstStyle/>
          <a:p>
            <a:pPr algn="r" indent="0" marL="0">
              <a:buNone/>
            </a:pPr>
            <a:r>
              <a:rPr lang="en-US" sz="900" dirty="0">
                <a:solidFill>
                  <a:srgbClr val="BBBBBB"/>
                </a:solidFill>
                <a:latin typeface="Arial" pitchFamily="34" charset="0"/>
                <a:ea typeface="Arial" pitchFamily="34" charset="-122"/>
                <a:cs typeface="Arial" pitchFamily="34" charset="-120"/>
              </a:rPr>
              <a:t>stringfestanalytics.com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2026-03-31T11:27:24Z</dcterms:created>
  <dcterms:modified xsi:type="dcterms:W3CDTF">2026-03-31T11:27:24Z</dcterms:modified>
</cp:coreProperties>
</file>